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5"/>
    <p:sldId id="275" r:id="rId26"/>
    <p:sldId id="276" r:id="rId27"/>
    <p:sldId id="277" r:id="rId28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WAREHOUSE OPERATIONS COPILOT · POC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WMS Agent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묻고 · 데이터로 계산하고 · 승인으로 실행한다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337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“오늘 뭐 해야 돼?”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0" y="3337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피킹 · 적치 · 재고 리스크 · 출고확정까지 한 번에 답하는 Agentic AI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창고 운영자를 위한 Agentic AI 서비스 기획  ·  2026.06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서비스인가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49040" cy="3291840"/>
          </a:xfrm>
          <a:prstGeom prst="roundRect">
            <a:avLst>
              <a:gd name="adj" fmla="val 2222"/>
            </a:avLst>
          </a:prstGeom>
          <a:solidFill>
            <a:srgbClr val="F4F6F7"/>
          </a:solidFill>
          <a:ln/>
        </p:spPr>
      </p:sp>
      <p:sp>
        <p:nvSpPr>
          <p:cNvPr id="5" name="Shape 3"/>
          <p:cNvSpPr/>
          <p:nvPr/>
        </p:nvSpPr>
        <p:spPr>
          <a:xfrm>
            <a:off x="1737360" y="1554480"/>
            <a:ext cx="2194560" cy="411480"/>
          </a:xfrm>
          <a:prstGeom prst="roundRect">
            <a:avLst>
              <a:gd name="adj" fmla="val 22222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1737360" y="1554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뭐 해야 돼?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2148840"/>
            <a:ext cx="329184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28600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우선 처리할 업무는 3건입니다.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ORD001 피킹 지시 — 10:30 시작 권장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SKU_A001 재고 부족 예상 — HIGH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INB003 적치 필요 — Zone A 추천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출고예정·재고·정책 문서 기반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17720" y="1325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한 번에 종합하는 5가지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17720" y="1819656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74920" y="17373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피킹지시가 필요한 출고예정 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출고시간 기준 우선순위·시작시간 포함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17720" y="2404872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404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74920" y="232257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적치가 필요한 입고 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입고예정·적치대기 상태 기준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17720" y="2990088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74920" y="290779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부족 예상 품목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출고이력 기반 소진일 예측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17720" y="3575304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575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74920" y="349300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출고확정대기 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피킹·패킹 완료 후 확정 대상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17720" y="4160520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461772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74920" y="407822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 기준 예외 상황 대응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재고부족·CAPA부족 등 표준 대응안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6가지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EDF5F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17904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할 일 요약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미지시 출고, 적치대기, 재고 위험, 출고확정대기를 한 번에 종합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3328416" y="1371600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7" name="Text 5"/>
          <p:cNvSpPr/>
          <p:nvPr/>
        </p:nvSpPr>
        <p:spPr>
          <a:xfrm>
            <a:off x="3529584" y="1517904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 추천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SKU · CAPA · 거리 · 고회전 기준으로 최적 Location 추천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371600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1517904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 우선순위 추천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출고시간 - 작업시간 - 버퍼로 피킹 시작시간과 순서 산출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7200" y="3081528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322783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리스크 예측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선형회귀로 예상소진일 계산, HIGH/MEDIUM/LOW 등급 판정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3328416" y="3081528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13" name="Text 11"/>
          <p:cNvSpPr/>
          <p:nvPr/>
        </p:nvSpPr>
        <p:spPr>
          <a:xfrm>
            <a:off x="3529584" y="322783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 대응 추천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재고부족, CAPA부족 등 예외 상황의 표준 대응 절차 제시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199632" y="3081528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22783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설명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문서 · 산식 · Tool 결과를 인용해 추천 이유를 설명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구조 — LangGraph Workflow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530352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Router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의도 분류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36776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56232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1929384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실행 계획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35808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55264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3328416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실행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조회·계산·예측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54296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4727448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정합성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33872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53328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정책·산식 검색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32904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52360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7525512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응답·승인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6EF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+ 승인 요청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889504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LLM은 계산하지 않는다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Tool이 계산하고, LLM은 결과를 해석·설명한다. 상태 변경은 반드시 사용자 승인 후에만 수행한다.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패턴   Router · Planning · ReAct · PEV · Adaptive RAG · Dry-Run · Human-in-the-loop · Simulator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없이는 아무것도 바꾸지 않는다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03504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Tool이 적치·피킹·출고확정 대상을 계산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130552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2295144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276856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Draft 생성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 초안을 만들어 보관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803904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3968496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50208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Dry Run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변경될 상태·재고를 미리보기로 제시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77256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641848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623560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승인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D6EF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운영자가 확인 후 승인 또는 거부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150608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296912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승인된 Draft만 실제 DB 상태 변경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대상 작업  </a:t>
            </a:r>
            <a:pPr indent="0" marL="0">
              <a:buNone/>
            </a:pPr>
            <a:r>
              <a:rPr lang="en-US" sz="13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적치지시 생성 · 피킹지시 발행 · 출고확정     </a:t>
            </a:r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원칙  </a:t>
            </a:r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없는 상태 변경 0건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거부된 Draft는 REJECTED로 보관되어 언제든 추적 가능 — 모든 추천은 Tool Trace로 재현된다.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IDENTITY &amp; MEMORY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페르소나와 대화 관리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4904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· 톤앤매너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1901952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간결한 존댓말, 결론 → 수치 → 근거 → 조치 순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Tool 결과만 인용 — 추측 표현 금지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위험·출고 임박 건은 응답 첫머리에 배치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상태변경은 항상 “승인이 필요합니다” 명시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금지: 수치 임의 생성 · 문서에 없는 정책 설명 · 업무 범위 밖 답변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EDF5F6"/>
          </a:solidFill>
          <a:ln/>
        </p:spPr>
      </p:sp>
      <p:sp>
        <p:nvSpPr>
          <p:cNvPr id="8" name="Text 6"/>
          <p:cNvSpPr/>
          <p:nvPr/>
        </p:nvSpPr>
        <p:spPr>
          <a:xfrm>
            <a:off x="4919472" y="14904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메모리 전략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19472" y="1901952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10턴 윈도우 버퍼 + 세션 슬롯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“승인해줘” → 직전 Draft, “그 제품은?” → 최근 SKU 참조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무활동 시 세션 종료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Draft는 DB 영속 — 세션 만료 후에도 승인 가능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메모리는 POC 범위 제외 (모든 기록은 DB)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LLM·임베딩 모델은 사내 제공 예정(미정) — 교체 가능한 model-agnostic 구조로 설계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구성과 지식 기반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5910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LLM · 임베딩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제공 모델 (미정) · 교체 가능 설계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67128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202082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LangGraph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워크플로우 · 조건 분기 · 상태 관리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596896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4505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Tool Engine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조회·추천·Forecast·Draft 등 표준 Tool 23종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26664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880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RAG (FAISS)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6종 검색 · 필요할 때만 수행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56432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3101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SQLite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POC용 WMS 데이터 저장소 (13개 테이블)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7398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Linear Regression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소진일 예측 · 이동평균 Fallback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315968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4169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FastAPI · Streamlit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API와 운영자용 대시보드 UI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92040" y="1298448"/>
            <a:ext cx="3794760" cy="3246120"/>
          </a:xfrm>
          <a:prstGeom prst="roundRect">
            <a:avLst>
              <a:gd name="adj" fmla="val 2254"/>
            </a:avLst>
          </a:prstGeom>
          <a:solidFill>
            <a:srgbClr val="EDF5F6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1463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지식 문서 6종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38928" y="18745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적치 정책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SKU 우선 · CAPA · 거리 · 고회전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138928" y="2304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피킹 정책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시작시간 산정 · 우선순위 기준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138928" y="2734056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재고 리스크 정책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소진일 · 위험등급 · Fallback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138928" y="3163824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운영 SOP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재고부족 등 예외 상황 대응 8종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138928" y="359359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산식 문서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 점수 · 피킹 점수 · Forecast 산식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138928" y="40233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용어 사전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WMS 용어 정의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의사결정은 Tool이, 그 근거 설명은 RAG가 담당한다.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SUCCESS CRITERIA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무엇으로 성공을 판단하는가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66928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Intent 분류 정확도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100건 기준 의도 분류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42032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2542032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85%+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651760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Recall@3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문서 검색 정확도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26864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90%+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736592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Groundedness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문서에 근거한 답변 비율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11696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711696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821424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무승인 상태 변경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없는 지시·확정 차단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— 적치 규칙 위반 추천 0건 · 피킹 시작시간 계산 정확도 100% · Forecast 위험등급 분류 정확도 평가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로드맵 — 10 Phase, 4단계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 구축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셋업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스키마 · Seed 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1–2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42032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10" name="Text 8"/>
          <p:cNvSpPr/>
          <p:nvPr/>
        </p:nvSpPr>
        <p:spPr>
          <a:xfrm>
            <a:off x="2724912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24912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엔진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24912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23종 구현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Forecast · What-if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24912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3–4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9744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조립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809744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인덱싱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 워크플로우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9744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5–6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11696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20" name="Text 18"/>
          <p:cNvSpPr/>
          <p:nvPr/>
        </p:nvSpPr>
        <p:spPr>
          <a:xfrm>
            <a:off x="6894576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94576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서비스화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94576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· Streamlit UI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· 데모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94576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7–9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확장 — Hybrid Search · Reranker · PostgreSQL 전환 · 실제 WMS API 연동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WMS Agent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 UPDATE · 2026.06.17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진행 업데이트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4323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기획요약 + 진행현황을 병합했습니다. 이후 진행사항은 이 파일에 날짜 단위로 누적합니다.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145536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78992" y="309981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구현 완료 현황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78992" y="35204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디자인 패턴 — 정의와 코드 구현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986784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9867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394106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심화 — Adaptive/Agentic · ALR+Sufficient · Vector DB 구성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407408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78992" y="436168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— 실시간 수요 발생 시뮬레이션 (Toast · 긴급 처리)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8280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WMS Agent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IMPLEMENTATION 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구현된 내용 — POC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문서(docs 12종)대로 app/ 전 계층 구현 — 자연어 질의 → Tool 계산 → 근거 설명 → 승인 실행이 end-to-end로 동작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· Seed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15테이블 스키마 + 일관성 시드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db/schema.sql · seed/generate.py · wms.db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28416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3511296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· 적치(0~1 정규화 점수) · 피킹(우선순위·시작시간) · Draft/Dry-Run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tools/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99632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ED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382512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Forecast · DES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LR·MA 소진예측·위험등급 · SimPy 3인1조 DES · Monte Carlo P50/P90 · What-if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sim/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 메타 청킹 · FAISS · PRISM 리랭크 · 충분성 게이트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rag/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28416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3511296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 9노드 조건분기 그래프 + AgentState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agent/graph.py · nodes.py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199632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· UI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· 무프레임워크 웹 SPA(시뮬레이션·디지털트윈·타임라인)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api/ · web/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D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5262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평가 하네스  </a:t>
            </a:r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7종 · 24체크 — Tool 결정성 · 적치 정규화 · DES 재현성(seed 고정) · Forecast · Intent · RAG/Abstain · Answer Grounding (eval/harness.py)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PATTERNS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적용한 에이전트 패턴 — 정의와 코드 구현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LLM은 계산하지 않는다 · Tool이 계산하고 LLM은 설명한다 (agent/nodes.py)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63240"/>
                <a:gridCol w="2880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(역할)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(파일 · 함수)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Router / Meta-Controller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질의 intent·파라미터 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router_node · gpt-4.1-mini JSON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Planning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intent → Tool 실행계획(규칙)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planner_node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 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조회·점수·예측·Draft 계산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tool_executor_node + _HANDLERS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PEV / Verify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정합성 검증(점수 0~1 범위)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verifier_node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Dry-Run · HITL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상태변경 미리보기 → 사용자 승인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approval_gate_node · drafts.dry_run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Adaptive RAG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질의에만 검색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rag_decision_node (RAG_INTENTS)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Agentic RAG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충분성 루프 · 재검색 · abstain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retriever.retrieve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Simulator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SimPy DES · What-if 시나리오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des.run_des_simulation · whatif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PATTERNS ·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코드로 보는 패턴 구현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160520" cy="3246120"/>
          </a:xfrm>
          <a:prstGeom prst="roundRect">
            <a:avLst>
              <a:gd name="adj" fmla="val 1690"/>
            </a:avLst>
          </a:prstGeom>
          <a:solidFill>
            <a:srgbClr val="263238"/>
          </a:solidFill>
          <a:ln/>
        </p:spPr>
      </p:sp>
      <p:sp>
        <p:nvSpPr>
          <p:cNvPr id="5" name="Text 3"/>
          <p:cNvSpPr/>
          <p:nvPr/>
        </p:nvSpPr>
        <p:spPr>
          <a:xfrm>
            <a:off x="603504" y="1508760"/>
            <a:ext cx="3867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Agentic RAG — 충분성 루프 (rag/retriever.py)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3504" y="1783080"/>
            <a:ext cx="386791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retrieve(query, intent, k=5):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q, retries = query, 0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while True: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cands  = search(q, k, intent)    # FAISS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ranked = prism_rerank(query, cands)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judge  = sufficient_context(query, ranked)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if judge["answerable"] or retries&gt;=2: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break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# 부족한 근거유형을 질의에 보강 후 재검색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q = f"{query} {missing}"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retries += 1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# 충분: 근거 반환 / 부족: abstain</a:t>
            </a:r>
            <a:endParaRPr lang="en-US" sz="830" dirty="0"/>
          </a:p>
        </p:txBody>
      </p:sp>
      <p:sp>
        <p:nvSpPr>
          <p:cNvPr id="7" name="Shape 5"/>
          <p:cNvSpPr/>
          <p:nvPr/>
        </p:nvSpPr>
        <p:spPr>
          <a:xfrm>
            <a:off x="4800600" y="1417320"/>
            <a:ext cx="3886200" cy="1536192"/>
          </a:xfrm>
          <a:prstGeom prst="roundRect">
            <a:avLst>
              <a:gd name="adj" fmla="val 3571"/>
            </a:avLst>
          </a:prstGeom>
          <a:solidFill>
            <a:srgbClr val="263238"/>
          </a:solidFill>
          <a:ln/>
        </p:spPr>
      </p:sp>
      <p:sp>
        <p:nvSpPr>
          <p:cNvPr id="8" name="Text 6"/>
          <p:cNvSpPr/>
          <p:nvPr/>
        </p:nvSpPr>
        <p:spPr>
          <a:xfrm>
            <a:off x="4946904" y="1508760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Use — 계산은 Tool (agent/nodes.py)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946904" y="1783080"/>
            <a:ext cx="3593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_HANDLERS = {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"inventory_risk": _h_inventory_risk,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"stocking_recommendation": _h_stocking, ...}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tool_executor_node(state):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h = _HANDLERS[state["intent"]]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return {"tool_results": h(state["params"])}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4800600" y="3127248"/>
            <a:ext cx="3886200" cy="1536192"/>
          </a:xfrm>
          <a:prstGeom prst="roundRect">
            <a:avLst>
              <a:gd name="adj" fmla="val 3571"/>
            </a:avLst>
          </a:prstGeom>
          <a:solidFill>
            <a:srgbClr val="263238"/>
          </a:solidFill>
          <a:ln/>
        </p:spPr>
      </p:sp>
      <p:sp>
        <p:nvSpPr>
          <p:cNvPr id="11" name="Text 9"/>
          <p:cNvSpPr/>
          <p:nvPr/>
        </p:nvSpPr>
        <p:spPr>
          <a:xfrm>
            <a:off x="4946904" y="3218688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Adaptive RAG — 진입 게이트 (agent/nodes.py)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946904" y="3493008"/>
            <a:ext cx="3593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RAG_INTENTS = {"policy_question",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"stocking_recommendation", "inventory_risk"...}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rag_decision_node(state):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# 단순 조회는 검색 생략(비용·지연 ↓)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return {"rag_required":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state["intent"] in RAG_INTENTS}</a:t>
            </a:r>
            <a:endParaRPr lang="en-US" sz="8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Adaptive vs Agentic — 검색 여부 + 품질 루프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996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Adaptive RAG — 진입 게이트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84708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“검색을 할까?”를 결정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단순 조회(입고예정·재고)는 검색 생략 → 비용·지연 ↓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근거·정책·SOP·산식 질문만 검색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구현: rag_decision_node (intent ∈ RAG_INTENTS)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572000" y="137160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0" y="14996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Agentic RAG — 품질 루프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54880" y="184708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근거로 충분한가?”를 반복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검색 → 리랭크 → 충분성 판정, 부족 시 query rewrite 재검색(≤2)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충분 근거 없으면 abstain(“문서 근거가 부족합니다”)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구현: retriever.retrieve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457200" y="3255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Adaptive = 문 앞에서 ‘들어갈지’ 결정  ·  Agentic = 안에서 ‘충분해질 때까지’ 반복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263238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7673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둘을 받치는 3가지 사상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4133088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ALR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근거 구조·사전 라우팅     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PRISM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설명용 근거 추출     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Sufficient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차단 게이트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각각이 무엇이고, 어떤 장점 때문에 넣어 어떻게 결합했는지는 다음 장에서 설명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WHY COMBINE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ALR · Sufficient · PRISM — 무엇이고, 왜 결합했나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24128"/>
            <a:ext cx="8531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기법은 역할이 겹치지 않는다 — 질문 분석, 근거 정제, 생성 판단을 나눠 단일 RAG의 약점을 보완한다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531352" cy="457200"/>
          </a:xfrm>
          <a:prstGeom prst="roundRect">
            <a:avLst>
              <a:gd name="adj" fmla="val 16000"/>
            </a:avLst>
          </a:prstGeom>
          <a:solidFill>
            <a:srgbClr val="EDF5F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8531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질문 입력 </a:t>
            </a:r>
            <a:pPr algn="ctr"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→  </a:t>
            </a:r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ALR </a:t>
            </a:r>
            <a:pPr algn="ctr"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→  Retrieval  →  </a:t>
            </a:r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PRISM </a:t>
            </a:r>
            <a:pPr algn="ctr"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→  </a:t>
            </a:r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Sufficient Context </a:t>
            </a:r>
            <a:pPr algn="ctr"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→  </a:t>
            </a:r>
            <a:pPr algn="ctr" indent="0" marL="0">
              <a:buNone/>
            </a:pPr>
            <a:r>
              <a:rPr lang="en-US" sz="10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 / Re-search / Abstain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2734056" cy="2240280"/>
          </a:xfrm>
          <a:prstGeom prst="roundRect">
            <a:avLst>
              <a:gd name="adj" fmla="val 2857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" y="207568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ALR: Analysis–Localization–Reasoning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1792" y="2596896"/>
            <a:ext cx="24048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무엇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DocSeeker의 구조화된 문서 추론 흐름. 질문 의도를 먼저 분석하고, 필요한 근거 위치를 문서에서 식별한 뒤 그 근거로 추론한다.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강점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검색과 추론을 분리해 ‘어디를 근거로 답했는지’가 명확. 긴 문서의 노이즈를 줄이고 근거 추적성을 높인다.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역할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DocSeeker 모델은 도입하지 않고 ALR 개념·흐름만 차용. RAG 파이프라인에서 질문 분석·근거 후보 라우팅 기준으로 사용.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3355848" y="1965960"/>
            <a:ext cx="2734056" cy="2240280"/>
          </a:xfrm>
          <a:prstGeom prst="roundRect">
            <a:avLst>
              <a:gd name="adj" fmla="val 2857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207568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PRISM: Evidence-aware Reranker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520440" y="2596896"/>
            <a:ext cx="24048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무엇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점수만 쓰는 reranker가 아니라 relevance 판단·contribution·근거 구절(evidence passage)을 함께 생성하는 재랭킹.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강점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‘왜 근거인지’와 ‘답변 기여도’를 함께 제공 → 검색 결과를 그대로 넣지 않고 핵심 근거 중심으로 context를 정제.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역할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검색된 후보 청크를 재평가해 답변에 쓸 근거 구절과 설명 가능한 contribution을 생성.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254496" y="1965960"/>
            <a:ext cx="2734056" cy="2240280"/>
          </a:xfrm>
          <a:prstGeom prst="roundRect">
            <a:avLst>
              <a:gd name="adj" fmla="val 2857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9088" y="207568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Sufficient Context: Answerability Gate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19088" y="2596896"/>
            <a:ext cx="24048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무엇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정제된 context만으로 질문에 답할 수 있는지 판단하는 품질 게이트.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강점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부족 상태의 억지 답변을 차단. 불충분하면 추가 검색·재질문 또는 답변 보류(abstain).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역할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생성 직전 근거 충분성을 판단 — 충분하면 답변, 부족하면 재검색하거나 ‘근거 부족으로 답변 불가’.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57200" y="4315968"/>
            <a:ext cx="8531352" cy="731520"/>
          </a:xfrm>
          <a:prstGeom prst="roundRect">
            <a:avLst>
              <a:gd name="adj" fmla="val 8750"/>
            </a:avLst>
          </a:prstGeom>
          <a:solidFill>
            <a:srgbClr val="263238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43159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결합  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6E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ALR은 질문 분석·근거 탐색을 구조화하고, PRISM은 후보를 근거 중심으로 재정렬·정제하며, Sufficient Context는 최종 답변 가능 여부를 판단한다. → 단순 유사도 RAG의 약점(잘못된 근거 선택·불충분한 context 답변·환각)을 함께 줄인다.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VECTOR DB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③ Vector DB 구성과 검색 파이프라인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77640" cy="3246120"/>
          </a:xfrm>
          <a:prstGeom prst="roundRect">
            <a:avLst>
              <a:gd name="adj" fmla="val 1972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4533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Vector DB · 인덱스 구성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892808"/>
            <a:ext cx="3611880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Vector DB: FAISS IndexFlatIP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  (L2 정규화 → 코사인 유사도)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임베딩: text-embedding-3-small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청킹: 정책 md 6종 · ## 헤딩 단위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  (LLM 없이 결정적 메타 부여)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메타: source·document_type·domain·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  section·answerable_intents·evidence_summary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인덱스: faiss.index + chunks.json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  정책 변경 시 전체 재인덱싱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향후: PostgreSQL/pgvector 전환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617720" y="1417320"/>
            <a:ext cx="4069080" cy="1783080"/>
          </a:xfrm>
          <a:prstGeom prst="roundRect">
            <a:avLst>
              <a:gd name="adj" fmla="val 3590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54533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파이프라인 (rag/retriever.py)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800600" y="1892808"/>
            <a:ext cx="3703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질의 임베딩 → ② FAISS top-(k×3)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intent 메타 필터 → top-k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PRISM 리랭크(relevance·contribution·span)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Sufficient 판정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  충분 → 근거 답변 / 부족 → 재검색(≤2)·abstain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4617720" y="3383280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263238"/>
          </a:solidFill>
          <a:ln/>
        </p:spPr>
      </p:sp>
      <p:sp>
        <p:nvSpPr>
          <p:cNvPr id="11" name="Text 9"/>
          <p:cNvSpPr/>
          <p:nvPr/>
        </p:nvSpPr>
        <p:spPr>
          <a:xfrm>
            <a:off x="4764024" y="3474720"/>
            <a:ext cx="3776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 빌드 (rag/index.py)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64024" y="3749040"/>
            <a:ext cx="3776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vecs = embed([c.text for c in chunks])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faiss.normalize_L2(vecs)        # → 코사인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= faiss.IndexFlatIP(dim)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index.add(vecs)</a:t>
            </a:r>
            <a:endParaRPr lang="en-US" sz="8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 · 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① 실시간 수요 발생 (Runtime Demand Stream)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DES의 확률 수요생성(Poisson, λ=fit_demand)을 런타임 이벤트 스트림으로 확장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9105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발생 개념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93852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앱 실행(runtime) 중 확률분포로 입고요청/출고요청이 실시간 생성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발생 시점: 보유 데이터 대비 미래 / 중간 / 근미래(실시간)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생성기: 현재 DES Poisson 수요(λ) 로직 재사용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5112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 흐름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858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 스트림 발생기 → 요청 row 생성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Toast 알림 → [탭 이동] 또는 [닫기]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56048" y="15910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🔔  신규 출고요청 발생 — ORD-RT-014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56048" y="19019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오늘 16:00 마감 · </a:t>
            </a:r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56048" y="2286000"/>
            <a:ext cx="173736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4956048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입·출고 요청 데이터로 이동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12280" y="2286000"/>
            <a:ext cx="868680" cy="384048"/>
          </a:xfrm>
          <a:prstGeom prst="roundRect">
            <a:avLst>
              <a:gd name="adj" fmla="val 23810"/>
            </a:avLst>
          </a:prstGeom>
          <a:solidFill>
            <a:srgbClr val="F4F6F7"/>
          </a:solidFill>
          <a:ln w="12700">
            <a:solidFill>
              <a:srgbClr val="C9D6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22860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 시점 분포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7760" y="3977640"/>
            <a:ext cx="3566160" cy="0"/>
          </a:xfrm>
          <a:prstGeom prst="line">
            <a:avLst/>
          </a:prstGeom>
          <a:noFill/>
          <a:ln w="19050">
            <a:solidFill>
              <a:srgbClr val="C9D6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3904488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452628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now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89320" y="3904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57784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근미래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949440" y="3904488"/>
            <a:ext cx="146304" cy="146304"/>
          </a:xfrm>
          <a:prstGeom prst="ellipse">
            <a:avLst/>
          </a:prstGeom>
          <a:solidFill>
            <a:srgbClr val="8AA0A6"/>
          </a:solidFill>
          <a:ln/>
        </p:spPr>
      </p:sp>
      <p:sp>
        <p:nvSpPr>
          <p:cNvPr id="25" name="Text 23"/>
          <p:cNvSpPr/>
          <p:nvPr/>
        </p:nvSpPr>
        <p:spPr>
          <a:xfrm>
            <a:off x="653796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83880" y="3904488"/>
            <a:ext cx="146304" cy="146304"/>
          </a:xfrm>
          <a:prstGeom prst="ellipse">
            <a:avLst/>
          </a:prstGeom>
          <a:solidFill>
            <a:srgbClr val="8AA0A6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54880" y="4498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요청은 now 이후 어느 시점에도 발생 가능 — 근미래 건은 즉시 처리 압박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 · 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② 긴급 처리 판정 · 입·출고 요청 데이터 탭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114800" cy="1572768"/>
          </a:xfrm>
          <a:prstGeom prst="roundRect">
            <a:avLst>
              <a:gd name="adj" fmla="val 407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4533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긴급여부 판정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892808"/>
            <a:ext cx="3749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정의: now 기준 오늘(영업일) 내 처리해야 하면 긴급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판정: due_datetime ≤ 오늘 마감(EOD) → urgent = true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연계: 피킹 우선순위(deadline_urgency)·DES 부하에 즉시 반영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57200" y="3127248"/>
            <a:ext cx="4114800" cy="1627632"/>
          </a:xfrm>
          <a:prstGeom prst="roundRect">
            <a:avLst>
              <a:gd name="adj" fmla="val 3933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325526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 변경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602736"/>
            <a:ext cx="3749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inbound_orders / outbound_orders에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   urgent 파생 컬럼(또는 뷰) 추가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실시간 생성 요청은 row append (source=REALTIME)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 탭: 입·출고 요청 데이터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977640" cy="1143000"/>
          </a:xfrm>
          <a:prstGeom prst="roundRect">
            <a:avLst>
              <a:gd name="adj" fmla="val 560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154533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탭 구성 (신규 탭 추가)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892040" y="1892808"/>
            <a:ext cx="36118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현재: Agent Chat · KPI · Simulation · Approval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추가: ★ 입·출고 요청 데이터 (실시간 요청·긴급 표시)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4709160" y="26974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입·출고 요청 데이터 (예시)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3017520"/>
          <a:ext cx="39776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31520"/>
                <a:gridCol w="1051560"/>
                <a:gridCol w="868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긴급여부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ORD-RT-014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16:00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INB-209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ORD-188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18:00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 UPDATE · 2026.06.25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진행 업데이트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4323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2026.06.17 이후 추가 구현 — 운영 흐름 현실화 · 대화/관측 · 실시간 시뮬레이션.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145536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78992" y="309981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 할당 단계 · 예상 결품 (실 WMS 출고 흐름 반영)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78992" y="35204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체화재고 · 재고 보충 (PICK/RESERVE 2단 재고)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986784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9867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394106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수요 발생(Toast) · 대화 메모리(세션 · 멀티턴 맥락)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407408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78992" y="436168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Approval·AI 동작 관측(트레이스) · 냉장/일반 · 고회전 슬로팅 · 지연비용 10배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8280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WMS Agent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IMPLEMENTATION 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추가 구현 — 2026.06.25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 WMS(BGF로지스) 출고 흐름 반영 + 대화/관측/실시간 — 전 항목 평가 하네스 40/40 통과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 할당 · 결품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예정→할당→피킹→확정 수량 세분화 · ATP 예상결품 KPI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allocation.py · Draft(ALLOCATION)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28416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3511296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체화 · 보충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EXPIRING/DEAD/SLOW 등급·처분 · PICK/RESERVE 2단 보충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dead_stock.py · replenishment.py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99632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ED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382512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수요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입·출고 생성→DB→SSE Toast · 설정모달 · LLM 즉시 인지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realtime.py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메모리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저장·복원(사이드바) + 멀티턴 맥락(대명사 해소)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chat_store.py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28416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3511296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Approval · 관측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상태변경 승인 통합 화면 · LangGraph/RAG 트레이스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trace_store.py · web SPA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199632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냉장·고회전·지연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냉장/일반 2종·격리·트윈 표현 · 고회전 입구 슬로팅 · 지연 10배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des.py · stocking.py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D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5262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평가 하네스  </a:t>
            </a:r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9종 · 40체크 — 할당/결품·체화/보충 추가 + 기존(결정성·정규화·재현성·Forecast·Intent·RAG·Grounding) (eval/harness.py)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REALTIME DEMAND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수요 발생 — 기술 &amp; 구현 (realtime.py)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4996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84708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SSE(Server-Sent Events) — 단방향 서버 푸시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StreamingResponse(text/event-stream)로 Toast 전송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asyncio 백그라운드 루프 + Queue 구독자 브로드캐스트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SQLite 즉시 기록 · 폴링 없이 서버 푸시(EventSource)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572000" y="137160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0" y="14996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흐름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54880" y="184708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가상 입·출고 생성(출고비율·수량 설정값 반영)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DB INSERT 먼저 → ③ 이벤트 브로드캐스트(저장→알림)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/events 구독자 큐로 전달 → 프론트 Toast 표시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제어 API: /realtime start·stop·emit·config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457200" y="3255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저장→알림 순서로 조회 일관성 — Toast 시점에 LLM 조회 Tool이 즉시 인지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2632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37673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설정(⚙ 모달) · 실시간 인지 · 무폴링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4133088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생성주기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2초~ 가변     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출고비율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출고:입고 비중     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수량범위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입·출고 min~max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설정 모달에서 주기·출고비율·수량을 즉시 변경, 다음 주기부터 반영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CONVERSATION MEMORY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메모리 — 기술 &amp; 구현 (chat_store.py · LangGraph)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4996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A — 영속화 (저장·복원)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84708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chat_sessions / chat_messages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세션 생성 · 메시지 append · 제목 자동 생성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/sessions 목록·복원·삭제 · 서버 DB 저장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사이드바 세션 목록·검색·복원 · 화자 라벨(user/ai)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572000" y="137160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0" y="14996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B — 멀티턴 맥락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54880" y="184708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“직전 맥락 기억” — 최근 6턴 주입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/chat이 session_id로 recent_history → state.history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Router 대명사·생략 해소(‘그거 할당’→직전 order_no)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Response Generator가 맥락 이어받아 일관 응답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457200" y="3255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smalltalk 인텐트 — 인사·이름·‘기억해둬’를 history로 응답(고정 문구 제거)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2632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37673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· 맥락 · 모델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4133088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저장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SQLite 서버 DB     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맥락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LangGraph state.history     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모델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gpt-4.1-mini·gpt-5.4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세션 내 기억만 동작 · 세션 간 영구기억(장기 메모리)은 설계만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WMS Agent 기획 요약</dc:title>
  <dc:subject>PptxGenJS Presentation</dc:subject>
  <dc:creator>PptxGenJS</dc:creator>
  <cp:lastModifiedBy>PptxGenJS</cp:lastModifiedBy>
  <cp:revision>1</cp:revision>
  <dcterms:created xsi:type="dcterms:W3CDTF">2026-06-17T01:28:54Z</dcterms:created>
  <dcterms:modified xsi:type="dcterms:W3CDTF">2026-06-17T01:28:54Z</dcterms:modified>
</cp:coreProperties>
</file>